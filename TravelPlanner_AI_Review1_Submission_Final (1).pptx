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BB8AB"/>
                </a:solidFill>
                <a:latin typeface="Aptos"/>
              </a:rPr>
              <a:t>FUNDAMENTALS OF ARTIFICIAL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828800"/>
            <a:ext cx="8229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200" b="1">
                <a:solidFill>
                  <a:srgbClr val="F8FBFD"/>
                </a:solidFill>
                <a:latin typeface="Aptos"/>
              </a:rPr>
              <a:t>TravelPlanner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76809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0">
                <a:solidFill>
                  <a:srgbClr val="BECDDC"/>
                </a:solidFill>
                <a:latin typeface="Aptos"/>
              </a:rPr>
              <a:t>Intelligent Travel Planning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069080"/>
            <a:ext cx="65836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F8FBFD"/>
                </a:solidFill>
                <a:latin typeface="Aptos"/>
              </a:rPr>
              <a:t>Search  •  Heuristics  •  Constraints  •  Rule-Based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892040"/>
            <a:ext cx="4572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1">
                <a:solidFill>
                  <a:srgbClr val="BECDDC"/>
                </a:solidFill>
                <a:latin typeface="Aptos"/>
              </a:rPr>
              <a:t>PROJECT REVIEW – 1</a:t>
            </a:r>
          </a:p>
        </p:txBody>
      </p:sp>
      <p:sp>
        <p:nvSpPr>
          <p:cNvPr id="7" name="Oval 6"/>
          <p:cNvSpPr/>
          <p:nvPr/>
        </p:nvSpPr>
        <p:spPr>
          <a:xfrm>
            <a:off x="9601200" y="1463040"/>
            <a:ext cx="164592" cy="164592"/>
          </a:xfrm>
          <a:prstGeom prst="ellipse">
            <a:avLst/>
          </a:prstGeom>
          <a:solidFill>
            <a:srgbClr val="1BB8AB"/>
          </a:solidFill>
          <a:ln>
            <a:solidFill>
              <a:srgbClr val="1B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0" y="2194560"/>
            <a:ext cx="164592" cy="164592"/>
          </a:xfrm>
          <a:prstGeom prst="ellipse">
            <a:avLst/>
          </a:prstGeom>
          <a:solidFill>
            <a:srgbClr val="1BB8AB"/>
          </a:solidFill>
          <a:ln>
            <a:solidFill>
              <a:srgbClr val="1B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0" y="3108960"/>
            <a:ext cx="164592" cy="164592"/>
          </a:xfrm>
          <a:prstGeom prst="ellipse">
            <a:avLst/>
          </a:prstGeom>
          <a:solidFill>
            <a:srgbClr val="1BB8AB"/>
          </a:solidFill>
          <a:ln>
            <a:solidFill>
              <a:srgbClr val="1B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0" y="4023360"/>
            <a:ext cx="164592" cy="164592"/>
          </a:xfrm>
          <a:prstGeom prst="ellipse">
            <a:avLst/>
          </a:prstGeom>
          <a:solidFill>
            <a:srgbClr val="1BB8AB"/>
          </a:solidFill>
          <a:ln>
            <a:solidFill>
              <a:srgbClr val="1B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149840" y="4846320"/>
            <a:ext cx="164592" cy="164592"/>
          </a:xfrm>
          <a:prstGeom prst="ellipse">
            <a:avLst/>
          </a:prstGeom>
          <a:solidFill>
            <a:srgbClr val="1BB8AB"/>
          </a:solidFill>
          <a:ln>
            <a:solidFill>
              <a:srgbClr val="1B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B8AB"/>
                </a:solidFill>
                <a:latin typeface="Apto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0116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BFD"/>
                </a:solidFill>
                <a:latin typeface="Aptos"/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45720"/>
          </a:xfrm>
          <a:prstGeom prst="rect">
            <a:avLst/>
          </a:prstGeom>
          <a:solidFill>
            <a:srgbClr val="1BB8AB"/>
          </a:solidFill>
          <a:ln>
            <a:solidFill>
              <a:srgbClr val="1B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42415"/>
            <a:ext cx="10698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ECDDC"/>
                </a:solidFill>
                <a:latin typeface="Aptos"/>
              </a:rPr>
              <a:t>Why intelligent travel planning is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5394960" cy="4480560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54480"/>
            <a:ext cx="64008" cy="4480560"/>
          </a:xfrm>
          <a:prstGeom prst="rect">
            <a:avLst/>
          </a:prstGeom>
          <a:solidFill>
            <a:srgbClr val="1BB8AB"/>
          </a:solidFill>
          <a:ln>
            <a:solidFill>
              <a:srgbClr val="1B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73352"/>
            <a:ext cx="5029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BFD"/>
                </a:solidFill>
                <a:latin typeface="Apto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21408"/>
            <a:ext cx="498348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Manual trip planning requires comparing many destinations, routes and activities.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A good itinerary must balance budget, time, distance, transport and interests.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Multiple constraints make it difficult to find a suitable plan quickly.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Users need a complete day-wise itinerary instead of scattered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349240" cy="4480560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54480"/>
            <a:ext cx="64008" cy="4480560"/>
          </a:xfrm>
          <a:prstGeom prst="rect">
            <a:avLst/>
          </a:prstGeom>
          <a:solidFill>
            <a:srgbClr val="37C6E2"/>
          </a:solidFill>
          <a:ln>
            <a:solidFill>
              <a:srgbClr val="37C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73352"/>
            <a:ext cx="49834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BFD"/>
                </a:solidFill>
                <a:latin typeface="Aptos"/>
              </a:rPr>
              <a:t>Project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21408"/>
            <a:ext cx="4937759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Collect travel requirements from the user.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Reason over destinations and possible routes.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Filter plans using constraints.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Generate a practical and personalized itinerary.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ECDDC"/>
                </a:solidFill>
                <a:latin typeface="Aptos"/>
              </a:rPr>
              <a:t>Fundamentals of Artificial Intelligence  •  Project Review –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B8AB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0116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BFD"/>
                </a:solidFill>
                <a:latin typeface="Aptos"/>
              </a:rPr>
              <a:t>Abstract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45720"/>
          </a:xfrm>
          <a:prstGeom prst="rect">
            <a:avLst/>
          </a:prstGeom>
          <a:solidFill>
            <a:srgbClr val="1BB8AB"/>
          </a:solidFill>
          <a:ln>
            <a:solidFill>
              <a:srgbClr val="1B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42415"/>
            <a:ext cx="10698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ECDDC"/>
                </a:solidFill>
                <a:latin typeface="Aptos"/>
              </a:rPr>
              <a:t>A classical-AI travel decision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10744200" cy="4434840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1">
                <a:solidFill>
                  <a:srgbClr val="F8FBFD"/>
                </a:solidFill>
                <a:latin typeface="Aptos"/>
              </a:rPr>
              <a:t>TravelPlanner AI converts user preferences into a feasible travel itinerary.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2743200"/>
            <a:ext cx="9966960" cy="45720"/>
          </a:xfrm>
          <a:prstGeom prst="rect">
            <a:avLst/>
          </a:prstGeom>
          <a:solidFill>
            <a:srgbClr val="1BB8AB"/>
          </a:solidFill>
          <a:ln>
            <a:solidFill>
              <a:srgbClr val="1B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3108960"/>
            <a:ext cx="3063240" cy="2286000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3108960"/>
            <a:ext cx="64008" cy="2286000"/>
          </a:xfrm>
          <a:prstGeom prst="rect">
            <a:avLst/>
          </a:prstGeom>
          <a:solidFill>
            <a:srgbClr val="1BB8AB"/>
          </a:solidFill>
          <a:ln>
            <a:solidFill>
              <a:srgbClr val="1B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1872" y="3227832"/>
            <a:ext cx="2697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BFD"/>
                </a:solidFill>
                <a:latin typeface="Aptos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675887"/>
            <a:ext cx="265176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Origin &amp; destination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Budget &amp; duration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Interests &amp; transport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3712" y="3108960"/>
            <a:ext cx="3063240" cy="2286000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53712" y="3108960"/>
            <a:ext cx="64008" cy="2286000"/>
          </a:xfrm>
          <a:prstGeom prst="rect">
            <a:avLst/>
          </a:prstGeom>
          <a:solidFill>
            <a:srgbClr val="F6BE4A"/>
          </a:solidFill>
          <a:ln>
            <a:solidFill>
              <a:srgbClr val="F6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4024" y="3227832"/>
            <a:ext cx="2697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BFD"/>
                </a:solidFill>
                <a:latin typeface="Aptos"/>
              </a:rPr>
              <a:t>AI 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82312" y="3675887"/>
            <a:ext cx="265176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Constraints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Search algorithms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Heuristic evaluation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3108960"/>
            <a:ext cx="3063240" cy="2286000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5864" y="3108960"/>
            <a:ext cx="64008" cy="2286000"/>
          </a:xfrm>
          <a:prstGeom prst="rect">
            <a:avLst/>
          </a:prstGeom>
          <a:solidFill>
            <a:srgbClr val="48C9B0"/>
          </a:solidFill>
          <a:ln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3227832"/>
            <a:ext cx="2697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BFD"/>
                </a:solidFill>
                <a:latin typeface="Aptos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3675887"/>
            <a:ext cx="265176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Route &amp; schedule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Estimated cost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Reasoned itinerary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ECDDC"/>
                </a:solidFill>
                <a:latin typeface="Aptos"/>
              </a:rPr>
              <a:t>Fundamentals of Artificial Intelligence  •  Project Review –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B8AB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0116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BFD"/>
                </a:solidFill>
                <a:latin typeface="Aptos"/>
              </a:rPr>
              <a:t>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45720"/>
          </a:xfrm>
          <a:prstGeom prst="rect">
            <a:avLst/>
          </a:prstGeom>
          <a:solidFill>
            <a:srgbClr val="1BB8AB"/>
          </a:solidFill>
          <a:ln>
            <a:solidFill>
              <a:srgbClr val="1B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42415"/>
            <a:ext cx="10698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ECDDC"/>
                </a:solidFill>
                <a:latin typeface="Aptos"/>
              </a:rPr>
              <a:t>Existing approaches and the identified gap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2743200" cy="502920"/>
          </a:xfrm>
          <a:prstGeom prst="roundRect">
            <a:avLst>
              <a:gd name="adj" fmla="val 12000"/>
            </a:avLst>
          </a:prstGeom>
          <a:solidFill>
            <a:srgbClr val="0E2846"/>
          </a:solidFill>
          <a:ln>
            <a:solidFill>
              <a:srgbClr val="0E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481328"/>
            <a:ext cx="252374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BB8AB"/>
                </a:solidFill>
                <a:latin typeface="Aptos"/>
              </a:rPr>
              <a:t>Approach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463040"/>
            <a:ext cx="3840480" cy="502920"/>
          </a:xfrm>
          <a:prstGeom prst="roundRect">
            <a:avLst>
              <a:gd name="adj" fmla="val 12000"/>
            </a:avLst>
          </a:prstGeom>
          <a:solidFill>
            <a:srgbClr val="0E2846"/>
          </a:solidFill>
          <a:ln>
            <a:solidFill>
              <a:srgbClr val="0E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7288" y="1481328"/>
            <a:ext cx="36210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BB8AB"/>
                </a:solidFill>
                <a:latin typeface="Aptos"/>
              </a:rPr>
              <a:t>Capability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463040"/>
            <a:ext cx="4983480" cy="502920"/>
          </a:xfrm>
          <a:prstGeom prst="roundRect">
            <a:avLst>
              <a:gd name="adj" fmla="val 12000"/>
            </a:avLst>
          </a:prstGeom>
          <a:solidFill>
            <a:srgbClr val="0E2846"/>
          </a:solidFill>
          <a:ln>
            <a:solidFill>
              <a:srgbClr val="0E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87768" y="1481328"/>
            <a:ext cx="476402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BB8AB"/>
                </a:solidFill>
                <a:latin typeface="Aptos"/>
              </a:rPr>
              <a:t>Limitation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057400"/>
            <a:ext cx="2743200" cy="713232"/>
          </a:xfrm>
          <a:prstGeom prst="roundRect">
            <a:avLst>
              <a:gd name="adj" fmla="val 12000"/>
            </a:avLst>
          </a:prstGeom>
          <a:solidFill>
            <a:srgbClr val="122B45"/>
          </a:solidFill>
          <a:ln>
            <a:solidFill>
              <a:srgbClr val="12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2084831"/>
            <a:ext cx="252374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1">
                <a:solidFill>
                  <a:srgbClr val="F8FBFD"/>
                </a:solidFill>
                <a:latin typeface="Aptos"/>
              </a:rPr>
              <a:t>Route Planning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057400"/>
            <a:ext cx="3840480" cy="713232"/>
          </a:xfrm>
          <a:prstGeom prst="roundRect">
            <a:avLst>
              <a:gd name="adj" fmla="val 12000"/>
            </a:avLst>
          </a:prstGeom>
          <a:solidFill>
            <a:srgbClr val="122B45"/>
          </a:solidFill>
          <a:ln>
            <a:solidFill>
              <a:srgbClr val="12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2084831"/>
            <a:ext cx="36210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0">
                <a:solidFill>
                  <a:srgbClr val="BECDDC"/>
                </a:solidFill>
                <a:latin typeface="Aptos"/>
              </a:rPr>
              <a:t>Finds paths between locations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78040" y="2057400"/>
            <a:ext cx="4983480" cy="713232"/>
          </a:xfrm>
          <a:prstGeom prst="roundRect">
            <a:avLst>
              <a:gd name="adj" fmla="val 12000"/>
            </a:avLst>
          </a:prstGeom>
          <a:solidFill>
            <a:srgbClr val="122B45"/>
          </a:solidFill>
          <a:ln>
            <a:solidFill>
              <a:srgbClr val="12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87768" y="2084831"/>
            <a:ext cx="47640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0">
                <a:solidFill>
                  <a:srgbClr val="BECDDC"/>
                </a:solidFill>
                <a:latin typeface="Aptos"/>
              </a:rPr>
              <a:t>Focuses mainly on route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880360"/>
            <a:ext cx="2743200" cy="713232"/>
          </a:xfrm>
          <a:prstGeom prst="roundRect">
            <a:avLst>
              <a:gd name="adj" fmla="val 12000"/>
            </a:avLst>
          </a:prstGeom>
          <a:solidFill>
            <a:srgbClr val="122B45"/>
          </a:solidFill>
          <a:ln>
            <a:solidFill>
              <a:srgbClr val="12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2907791"/>
            <a:ext cx="252374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1">
                <a:solidFill>
                  <a:srgbClr val="F8FBFD"/>
                </a:solidFill>
                <a:latin typeface="Aptos"/>
              </a:rPr>
              <a:t>Travel Recommendation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2880360"/>
            <a:ext cx="3840480" cy="713232"/>
          </a:xfrm>
          <a:prstGeom prst="roundRect">
            <a:avLst>
              <a:gd name="adj" fmla="val 12000"/>
            </a:avLst>
          </a:prstGeom>
          <a:solidFill>
            <a:srgbClr val="122B45"/>
          </a:solidFill>
          <a:ln>
            <a:solidFill>
              <a:srgbClr val="12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47288" y="2907791"/>
            <a:ext cx="36210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0">
                <a:solidFill>
                  <a:srgbClr val="BECDDC"/>
                </a:solidFill>
                <a:latin typeface="Aptos"/>
              </a:rPr>
              <a:t>Suggests places and activities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2880360"/>
            <a:ext cx="4983480" cy="713232"/>
          </a:xfrm>
          <a:prstGeom prst="roundRect">
            <a:avLst>
              <a:gd name="adj" fmla="val 12000"/>
            </a:avLst>
          </a:prstGeom>
          <a:solidFill>
            <a:srgbClr val="122B45"/>
          </a:solidFill>
          <a:ln>
            <a:solidFill>
              <a:srgbClr val="12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87768" y="2907791"/>
            <a:ext cx="47640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0">
                <a:solidFill>
                  <a:srgbClr val="BECDDC"/>
                </a:solidFill>
                <a:latin typeface="Aptos"/>
              </a:rPr>
              <a:t>May ignore combined constraints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703320"/>
            <a:ext cx="2743200" cy="713232"/>
          </a:xfrm>
          <a:prstGeom prst="roundRect">
            <a:avLst>
              <a:gd name="adj" fmla="val 12000"/>
            </a:avLst>
          </a:prstGeom>
          <a:solidFill>
            <a:srgbClr val="122B45"/>
          </a:solidFill>
          <a:ln>
            <a:solidFill>
              <a:srgbClr val="12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3730752"/>
            <a:ext cx="252374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1">
                <a:solidFill>
                  <a:srgbClr val="F8FBFD"/>
                </a:solidFill>
                <a:latin typeface="Aptos"/>
              </a:rPr>
              <a:t>Travel Scheduling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3703320"/>
            <a:ext cx="3840480" cy="713232"/>
          </a:xfrm>
          <a:prstGeom prst="roundRect">
            <a:avLst>
              <a:gd name="adj" fmla="val 12000"/>
            </a:avLst>
          </a:prstGeom>
          <a:solidFill>
            <a:srgbClr val="122B45"/>
          </a:solidFill>
          <a:ln>
            <a:solidFill>
              <a:srgbClr val="12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47288" y="3730752"/>
            <a:ext cx="36210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0">
                <a:solidFill>
                  <a:srgbClr val="BECDDC"/>
                </a:solidFill>
                <a:latin typeface="Aptos"/>
              </a:rPr>
              <a:t>Builds time-based plans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78040" y="3703320"/>
            <a:ext cx="4983480" cy="713232"/>
          </a:xfrm>
          <a:prstGeom prst="roundRect">
            <a:avLst>
              <a:gd name="adj" fmla="val 12000"/>
            </a:avLst>
          </a:prstGeom>
          <a:solidFill>
            <a:srgbClr val="122B45"/>
          </a:solidFill>
          <a:ln>
            <a:solidFill>
              <a:srgbClr val="12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87768" y="3730752"/>
            <a:ext cx="47640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0">
                <a:solidFill>
                  <a:srgbClr val="BECDDC"/>
                </a:solidFill>
                <a:latin typeface="Aptos"/>
              </a:rPr>
              <a:t>May not optimize routes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526280"/>
            <a:ext cx="2743200" cy="713232"/>
          </a:xfrm>
          <a:prstGeom prst="roundRect">
            <a:avLst>
              <a:gd name="adj" fmla="val 12000"/>
            </a:avLst>
          </a:prstGeom>
          <a:solidFill>
            <a:srgbClr val="122B45"/>
          </a:solidFill>
          <a:ln>
            <a:solidFill>
              <a:srgbClr val="12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4553712"/>
            <a:ext cx="252374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1">
                <a:solidFill>
                  <a:srgbClr val="F8FBFD"/>
                </a:solidFill>
                <a:latin typeface="Aptos"/>
              </a:rPr>
              <a:t>Rule-Based Planning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37560" y="4526280"/>
            <a:ext cx="3840480" cy="713232"/>
          </a:xfrm>
          <a:prstGeom prst="roundRect">
            <a:avLst>
              <a:gd name="adj" fmla="val 12000"/>
            </a:avLst>
          </a:prstGeom>
          <a:solidFill>
            <a:srgbClr val="122B45"/>
          </a:solidFill>
          <a:ln>
            <a:solidFill>
              <a:srgbClr val="12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47288" y="4553712"/>
            <a:ext cx="36210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0">
                <a:solidFill>
                  <a:srgbClr val="BECDDC"/>
                </a:solidFill>
                <a:latin typeface="Aptos"/>
              </a:rPr>
              <a:t>Uses explicit rules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78040" y="4526280"/>
            <a:ext cx="4983480" cy="713232"/>
          </a:xfrm>
          <a:prstGeom prst="roundRect">
            <a:avLst>
              <a:gd name="adj" fmla="val 12000"/>
            </a:avLst>
          </a:prstGeom>
          <a:solidFill>
            <a:srgbClr val="122B45"/>
          </a:solidFill>
          <a:ln>
            <a:solidFill>
              <a:srgbClr val="122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87768" y="4553712"/>
            <a:ext cx="476402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30" b="0">
                <a:solidFill>
                  <a:srgbClr val="BECDDC"/>
                </a:solidFill>
                <a:latin typeface="Aptos"/>
              </a:rPr>
              <a:t>Limited with many possibilities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440680"/>
            <a:ext cx="10972800" cy="640080"/>
          </a:xfrm>
          <a:prstGeom prst="roundRect">
            <a:avLst>
              <a:gd name="adj" fmla="val 12000"/>
            </a:avLst>
          </a:prstGeom>
          <a:solidFill>
            <a:srgbClr val="1BB8AB"/>
          </a:solidFill>
          <a:ln>
            <a:solidFill>
              <a:srgbClr val="1B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09192F"/>
                </a:solidFill>
                <a:latin typeface="Aptos"/>
              </a:rPr>
              <a:t>Research Gap → Unify route search, constraints, heuristics and rules in one planner.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ECDDC"/>
                </a:solidFill>
                <a:latin typeface="Aptos"/>
              </a:rPr>
              <a:t>Fundamentals of Artificial Intelligence  •  Project Review – 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B8AB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0116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BFD"/>
                </a:solidFill>
                <a:latin typeface="Aptos"/>
              </a:rPr>
              <a:t>Existing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45720"/>
          </a:xfrm>
          <a:prstGeom prst="rect">
            <a:avLst/>
          </a:prstGeom>
          <a:solidFill>
            <a:srgbClr val="1BB8AB"/>
          </a:solidFill>
          <a:ln>
            <a:solidFill>
              <a:srgbClr val="1B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42415"/>
            <a:ext cx="10698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ECDDC"/>
                </a:solidFill>
                <a:latin typeface="Aptos"/>
              </a:rPr>
              <a:t>Current travel tools solve different parts of the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3429000" cy="4480560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54480"/>
            <a:ext cx="64008" cy="4480560"/>
          </a:xfrm>
          <a:prstGeom prst="rect">
            <a:avLst/>
          </a:prstGeom>
          <a:solidFill>
            <a:srgbClr val="37C6E2"/>
          </a:solidFill>
          <a:ln>
            <a:solidFill>
              <a:srgbClr val="37C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73352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BFD"/>
                </a:solidFill>
                <a:latin typeface="Aptos"/>
              </a:rPr>
              <a:t>Navigation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21408"/>
            <a:ext cx="301752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Provide routes and distances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Useful for point-to-point travel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User still builds the itinerary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54480"/>
            <a:ext cx="3429000" cy="4480560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554480"/>
            <a:ext cx="64008" cy="4480560"/>
          </a:xfrm>
          <a:prstGeom prst="rect">
            <a:avLst/>
          </a:prstGeom>
          <a:solidFill>
            <a:srgbClr val="F6BE4A"/>
          </a:solidFill>
          <a:ln>
            <a:solidFill>
              <a:srgbClr val="F6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1673352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BFD"/>
                </a:solidFill>
                <a:latin typeface="Aptos"/>
              </a:rPr>
              <a:t>Travel Platforms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121408"/>
            <a:ext cx="301752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Provide destinations and activities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Useful for discovering options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Users compare and combine choices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554480"/>
            <a:ext cx="3429000" cy="4480560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47304" y="1554480"/>
            <a:ext cx="64008" cy="4480560"/>
          </a:xfrm>
          <a:prstGeom prst="rect">
            <a:avLst/>
          </a:prstGeom>
          <a:solidFill>
            <a:srgbClr val="48C9B0"/>
          </a:solidFill>
          <a:ln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1673352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BFD"/>
                </a:solidFill>
                <a:latin typeface="Aptos"/>
              </a:rPr>
              <a:t>Manual Planning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121408"/>
            <a:ext cx="301752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Flexible but time-consuming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Many factors must be compared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Hard to optimize all 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ECDDC"/>
                </a:solidFill>
                <a:latin typeface="Aptos"/>
              </a:rPr>
              <a:t>Fundamentals of Artificial Intelligence  •  Project Review –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B8AB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0116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BFD"/>
                </a:solidFill>
                <a:latin typeface="Aptos"/>
              </a:rPr>
              <a:t>Proposed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45720"/>
          </a:xfrm>
          <a:prstGeom prst="rect">
            <a:avLst/>
          </a:prstGeom>
          <a:solidFill>
            <a:srgbClr val="1BB8AB"/>
          </a:solidFill>
          <a:ln>
            <a:solidFill>
              <a:srgbClr val="1B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42415"/>
            <a:ext cx="10698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ECDDC"/>
                </a:solidFill>
                <a:latin typeface="Aptos"/>
              </a:rPr>
              <a:t>TravelPlanner AI — intelligent itinerary generation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874519" cy="1965960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52728" y="1536192"/>
            <a:ext cx="566928" cy="566928"/>
          </a:xfrm>
          <a:prstGeom prst="ellipse">
            <a:avLst/>
          </a:prstGeom>
          <a:solidFill>
            <a:srgbClr val="1BB8AB"/>
          </a:solidFill>
          <a:ln>
            <a:solidFill>
              <a:srgbClr val="1B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2728" y="153619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9192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80"/>
            <a:ext cx="1600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8FBFD"/>
                </a:solidFill>
                <a:latin typeface="Aptos"/>
              </a:rPr>
              <a:t>Collect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1600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ECDDC"/>
                </a:solidFill>
                <a:latin typeface="Aptos"/>
              </a:rPr>
              <a:t>User preferences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251460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BB8AB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2" y="1828800"/>
            <a:ext cx="1874519" cy="1965960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20439" y="1536192"/>
            <a:ext cx="566928" cy="566928"/>
          </a:xfrm>
          <a:prstGeom prst="ellipse">
            <a:avLst/>
          </a:prstGeom>
          <a:solidFill>
            <a:srgbClr val="1BB8AB"/>
          </a:solidFill>
          <a:ln>
            <a:solidFill>
              <a:srgbClr val="1B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39" y="153619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9192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2240280"/>
            <a:ext cx="1600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8FBFD"/>
                </a:solidFill>
                <a:latin typeface="Aptos"/>
              </a:rPr>
              <a:t>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9232" y="2743200"/>
            <a:ext cx="1600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ECDDC"/>
                </a:solidFill>
                <a:latin typeface="Aptos"/>
              </a:rPr>
              <a:t>Travel constraints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79" y="251460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BB8AB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9784" y="1828800"/>
            <a:ext cx="1874519" cy="1965960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88152" y="1536192"/>
            <a:ext cx="566928" cy="566928"/>
          </a:xfrm>
          <a:prstGeom prst="ellipse">
            <a:avLst/>
          </a:prstGeom>
          <a:solidFill>
            <a:srgbClr val="1BB8AB"/>
          </a:solidFill>
          <a:ln>
            <a:solidFill>
              <a:srgbClr val="1B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88152" y="153619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9192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4" y="2240280"/>
            <a:ext cx="1600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8FBFD"/>
                </a:solidFill>
                <a:latin typeface="Aptos"/>
              </a:rPr>
              <a:t>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66944" y="2743200"/>
            <a:ext cx="1600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ECDDC"/>
                </a:solidFill>
                <a:latin typeface="Aptos"/>
              </a:rPr>
              <a:t>BFS / DFS / UCS / A*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251460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BB8AB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97496" y="1828800"/>
            <a:ext cx="1874519" cy="1965960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55864" y="1536192"/>
            <a:ext cx="566928" cy="566928"/>
          </a:xfrm>
          <a:prstGeom prst="ellipse">
            <a:avLst/>
          </a:prstGeom>
          <a:solidFill>
            <a:srgbClr val="1BB8AB"/>
          </a:solidFill>
          <a:ln>
            <a:solidFill>
              <a:srgbClr val="1B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55864" y="153619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9192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34656" y="2240280"/>
            <a:ext cx="1600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8FBFD"/>
                </a:solidFill>
                <a:latin typeface="Aptos"/>
              </a:rPr>
              <a:t>Evaluate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34656" y="2743200"/>
            <a:ext cx="1600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ECDDC"/>
                </a:solidFill>
                <a:latin typeface="Aptos"/>
              </a:rPr>
              <a:t>Heuristic scoring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90304" y="2514600"/>
            <a:ext cx="3200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BB8AB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65208" y="1828800"/>
            <a:ext cx="1874519" cy="1965960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23576" y="1536192"/>
            <a:ext cx="566928" cy="566928"/>
          </a:xfrm>
          <a:prstGeom prst="ellipse">
            <a:avLst/>
          </a:prstGeom>
          <a:solidFill>
            <a:srgbClr val="F6BE4A"/>
          </a:solidFill>
          <a:ln>
            <a:solidFill>
              <a:srgbClr val="F6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23576" y="1536192"/>
            <a:ext cx="566928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9192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02368" y="2240280"/>
            <a:ext cx="1600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8FBFD"/>
                </a:solidFill>
                <a:latin typeface="Aptos"/>
              </a:rPr>
              <a:t>Generate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2368" y="2743200"/>
            <a:ext cx="16002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BECDDC"/>
                </a:solidFill>
                <a:latin typeface="Aptos"/>
              </a:rPr>
              <a:t>Final itinerary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" y="4343400"/>
            <a:ext cx="10149840" cy="1005840"/>
          </a:xfrm>
          <a:prstGeom prst="roundRect">
            <a:avLst>
              <a:gd name="adj" fmla="val 12000"/>
            </a:avLst>
          </a:prstGeom>
          <a:solidFill>
            <a:srgbClr val="0E2846"/>
          </a:solidFill>
          <a:ln>
            <a:solidFill>
              <a:srgbClr val="0E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4498848"/>
            <a:ext cx="969264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8FBFD"/>
                </a:solidFill>
                <a:latin typeface="Aptos"/>
              </a:rPr>
              <a:t>The system combines user preferences, constraints, search and reasoning to create a practical itinerary.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ECDDC"/>
                </a:solidFill>
                <a:latin typeface="Aptos"/>
              </a:rPr>
              <a:t>Fundamentals of Artificial Intelligence  •  Project Review –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B8AB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0116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BFD"/>
                </a:solidFill>
                <a:latin typeface="Aptos"/>
              </a:rPr>
              <a:t>Methodologies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45720"/>
          </a:xfrm>
          <a:prstGeom prst="rect">
            <a:avLst/>
          </a:prstGeom>
          <a:solidFill>
            <a:srgbClr val="1BB8AB"/>
          </a:solidFill>
          <a:ln>
            <a:solidFill>
              <a:srgbClr val="1B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42415"/>
            <a:ext cx="10698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ECDDC"/>
                </a:solidFill>
                <a:latin typeface="Aptos"/>
              </a:rPr>
              <a:t>Classical AI techniques used in the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10835640" cy="749808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73152" cy="749808"/>
          </a:xfrm>
          <a:prstGeom prst="rect">
            <a:avLst/>
          </a:prstGeom>
          <a:solidFill>
            <a:srgbClr val="1BB8AB"/>
          </a:solidFill>
          <a:ln>
            <a:solidFill>
              <a:srgbClr val="1B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17320"/>
            <a:ext cx="2971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1">
                <a:solidFill>
                  <a:srgbClr val="F8FBFD"/>
                </a:solidFill>
                <a:latin typeface="Aptos"/>
              </a:rPr>
              <a:t>Knowledge Representation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399032"/>
            <a:ext cx="7178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80" b="0">
                <a:solidFill>
                  <a:srgbClr val="BECDDC"/>
                </a:solidFill>
                <a:latin typeface="Aptos"/>
              </a:rPr>
              <a:t>Destinations, routes, costs, attractions and travel times.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304288"/>
            <a:ext cx="10835640" cy="749808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304288"/>
            <a:ext cx="73152" cy="749808"/>
          </a:xfrm>
          <a:prstGeom prst="rect">
            <a:avLst/>
          </a:prstGeom>
          <a:solidFill>
            <a:srgbClr val="37C6E2"/>
          </a:solidFill>
          <a:ln>
            <a:solidFill>
              <a:srgbClr val="37C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50008"/>
            <a:ext cx="2971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1">
                <a:solidFill>
                  <a:srgbClr val="F8FBFD"/>
                </a:solidFill>
                <a:latin typeface="Aptos"/>
              </a:rPr>
              <a:t>Constraint Satisfaction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2331720"/>
            <a:ext cx="7178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80" b="0">
                <a:solidFill>
                  <a:srgbClr val="BECDDC"/>
                </a:solidFill>
                <a:latin typeface="Aptos"/>
              </a:rPr>
              <a:t>Budget, duration, transport and preference conditions.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36976"/>
            <a:ext cx="10835640" cy="749808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236976"/>
            <a:ext cx="73152" cy="749808"/>
          </a:xfrm>
          <a:prstGeom prst="rect">
            <a:avLst/>
          </a:prstGeom>
          <a:solidFill>
            <a:srgbClr val="F6BE4A"/>
          </a:solidFill>
          <a:ln>
            <a:solidFill>
              <a:srgbClr val="F6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282696"/>
            <a:ext cx="2971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1">
                <a:solidFill>
                  <a:srgbClr val="F8FBFD"/>
                </a:solidFill>
                <a:latin typeface="Aptos"/>
              </a:rPr>
              <a:t>Search Algorithms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39" y="3264408"/>
            <a:ext cx="7178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80" b="0">
                <a:solidFill>
                  <a:srgbClr val="BECDDC"/>
                </a:solidFill>
                <a:latin typeface="Aptos"/>
              </a:rPr>
              <a:t>BFS, DFS, Uniform Cost Search and A*.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169664"/>
            <a:ext cx="10835640" cy="749808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69664"/>
            <a:ext cx="73152" cy="749808"/>
          </a:xfrm>
          <a:prstGeom prst="rect">
            <a:avLst/>
          </a:prstGeom>
          <a:solidFill>
            <a:srgbClr val="48C9B0"/>
          </a:solidFill>
          <a:ln>
            <a:solidFill>
              <a:srgbClr val="48C9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215384"/>
            <a:ext cx="2971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1">
                <a:solidFill>
                  <a:srgbClr val="F8FBFD"/>
                </a:solidFill>
                <a:latin typeface="Aptos"/>
              </a:rPr>
              <a:t>Heuristic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4197096"/>
            <a:ext cx="7178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80" b="0">
                <a:solidFill>
                  <a:srgbClr val="BECDDC"/>
                </a:solidFill>
                <a:latin typeface="Aptos"/>
              </a:rPr>
              <a:t>Compare cost, time, distance and preference fit.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02352"/>
            <a:ext cx="10835640" cy="749808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5102352"/>
            <a:ext cx="73152" cy="749808"/>
          </a:xfrm>
          <a:prstGeom prst="rect">
            <a:avLst/>
          </a:prstGeom>
          <a:solidFill>
            <a:srgbClr val="F56E6E"/>
          </a:solidFill>
          <a:ln>
            <a:solidFill>
              <a:srgbClr val="F5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5148072"/>
            <a:ext cx="2971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20" b="1">
                <a:solidFill>
                  <a:srgbClr val="F8FBFD"/>
                </a:solidFill>
                <a:latin typeface="Aptos"/>
              </a:rPr>
              <a:t>Rule-Based Reasoning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5129784"/>
            <a:ext cx="71780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80" b="0">
                <a:solidFill>
                  <a:srgbClr val="BECDDC"/>
                </a:solidFill>
                <a:latin typeface="Aptos"/>
              </a:rPr>
              <a:t>IF–THEN rules prioritize suitable destinations.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ECDDC"/>
                </a:solidFill>
                <a:latin typeface="Aptos"/>
              </a:rPr>
              <a:t>Fundamentals of Artificial Intelligence  •  Project Review –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B8AB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0116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BFD"/>
                </a:solidFill>
                <a:latin typeface="Aptos"/>
              </a:rPr>
              <a:t>Frontend &amp; Backend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45720"/>
          </a:xfrm>
          <a:prstGeom prst="rect">
            <a:avLst/>
          </a:prstGeom>
          <a:solidFill>
            <a:srgbClr val="1BB8AB"/>
          </a:solidFill>
          <a:ln>
            <a:solidFill>
              <a:srgbClr val="1B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42415"/>
            <a:ext cx="10698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ECDDC"/>
                </a:solidFill>
                <a:latin typeface="Aptos"/>
              </a:rPr>
              <a:t>Application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5257800" cy="4526280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64008" cy="4526280"/>
          </a:xfrm>
          <a:prstGeom prst="rect">
            <a:avLst/>
          </a:prstGeom>
          <a:solidFill>
            <a:srgbClr val="37C6E2"/>
          </a:solidFill>
          <a:ln>
            <a:solidFill>
              <a:srgbClr val="37C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27631"/>
            <a:ext cx="48920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BFD"/>
                </a:solidFill>
                <a:latin typeface="Aptos"/>
              </a:rPr>
              <a:t>FRONTEND — User Interface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75688"/>
            <a:ext cx="4846320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Travel preference form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Origin, destination, budget and duration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Interest and transport selection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Interactive itinerary display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Route, schedule and estimated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349240" cy="4526280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64008" cy="4526280"/>
          </a:xfrm>
          <a:prstGeom prst="rect">
            <a:avLst/>
          </a:prstGeom>
          <a:solidFill>
            <a:srgbClr val="1BB8AB"/>
          </a:solidFill>
          <a:ln>
            <a:solidFill>
              <a:srgbClr val="1B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27631"/>
            <a:ext cx="4983479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BFD"/>
                </a:solidFill>
                <a:latin typeface="Aptos"/>
              </a:rPr>
              <a:t>BACKEND — AI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75688"/>
            <a:ext cx="4937759" cy="38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Knowledge base for travel data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Constraint checking and filtering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BFS / DFS / UCS / A* search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Heuristic scoring and rule reasoning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Itinerary generation and response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ECDDC"/>
                </a:solidFill>
                <a:latin typeface="Aptos"/>
              </a:rPr>
              <a:t>Fundamentals of Artificial Intelligence  •  Project Review – 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B8AB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0116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BFD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45720"/>
          </a:xfrm>
          <a:prstGeom prst="rect">
            <a:avLst/>
          </a:prstGeom>
          <a:solidFill>
            <a:srgbClr val="1BB8AB"/>
          </a:solidFill>
          <a:ln>
            <a:solidFill>
              <a:srgbClr val="1B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42415"/>
            <a:ext cx="10698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ECDDC"/>
                </a:solidFill>
                <a:latin typeface="Aptos"/>
              </a:rPr>
              <a:t>End-to-end application and AI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1828800" cy="1143000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258568"/>
            <a:ext cx="168249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7C6E2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651760"/>
            <a:ext cx="168249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BFD"/>
                </a:solidFill>
                <a:latin typeface="Aptos"/>
              </a:rPr>
              <a:t>User Input
Preferences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2148840"/>
            <a:ext cx="1828800" cy="1143000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9192" y="2258568"/>
            <a:ext cx="168249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1BB8AB"/>
                </a:solidFill>
                <a:latin typeface="Aptos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2651760"/>
            <a:ext cx="168249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BFD"/>
                </a:solidFill>
                <a:latin typeface="Aptos"/>
              </a:rPr>
              <a:t>API / Request
Processing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2148840"/>
            <a:ext cx="1828800" cy="1143000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82312" y="2258568"/>
            <a:ext cx="168249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6BE4A"/>
                </a:solidFill>
                <a:latin typeface="Aptos"/>
              </a:rPr>
              <a:t>Knowledge 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2651760"/>
            <a:ext cx="168249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BFD"/>
                </a:solidFill>
                <a:latin typeface="Aptos"/>
              </a:rPr>
              <a:t>Destinations
Routes • Costs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2148840"/>
            <a:ext cx="1828800" cy="1143000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85432" y="2258568"/>
            <a:ext cx="168249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48C9B0"/>
                </a:solidFill>
                <a:latin typeface="Aptos"/>
              </a:rPr>
              <a:t>Constraint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5432" y="2651760"/>
            <a:ext cx="168249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BFD"/>
                </a:solidFill>
                <a:latin typeface="Aptos"/>
              </a:rPr>
              <a:t>Budget • Time
Preferences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2148840"/>
            <a:ext cx="1828800" cy="1143000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88552" y="2258568"/>
            <a:ext cx="168249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37C6E2"/>
                </a:solidFill>
                <a:latin typeface="Aptos"/>
              </a:rPr>
              <a:t>AI 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88552" y="2651760"/>
            <a:ext cx="168249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50" b="1">
                <a:solidFill>
                  <a:srgbClr val="F8FBFD"/>
                </a:solidFill>
                <a:latin typeface="Aptos"/>
              </a:rPr>
              <a:t>BFS • DFS
UCS • A*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0864" y="2487168"/>
            <a:ext cx="25603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BB8AB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43984" y="2487168"/>
            <a:ext cx="25603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BB8AB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47104" y="2487168"/>
            <a:ext cx="25603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BB8AB"/>
                </a:solidFill>
                <a:latin typeface="Apto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0224" y="2487168"/>
            <a:ext cx="256032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BB8AB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28800" y="3977639"/>
            <a:ext cx="8503920" cy="1325880"/>
          </a:xfrm>
          <a:prstGeom prst="roundRect">
            <a:avLst>
              <a:gd name="adj" fmla="val 12000"/>
            </a:avLst>
          </a:prstGeom>
          <a:solidFill>
            <a:srgbClr val="0E2846"/>
          </a:solidFill>
          <a:ln>
            <a:solidFill>
              <a:srgbClr val="0E2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103120" y="4187952"/>
            <a:ext cx="7955279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6BE4A"/>
                </a:solidFill>
                <a:latin typeface="Aptos"/>
              </a:rPr>
              <a:t>HEURISTIC EVALUATOR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4590288"/>
            <a:ext cx="795527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BECDDC"/>
                </a:solidFill>
                <a:latin typeface="Aptos"/>
              </a:rPr>
              <a:t>Cost + Time + Distance + Preference 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5422392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BB8AB"/>
                </a:solidFill>
                <a:latin typeface="Aptos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0" y="5623560"/>
            <a:ext cx="4846320" cy="566928"/>
          </a:xfrm>
          <a:prstGeom prst="roundRect">
            <a:avLst>
              <a:gd name="adj" fmla="val 12000"/>
            </a:avLst>
          </a:prstGeom>
          <a:solidFill>
            <a:srgbClr val="1BB8AB"/>
          </a:solidFill>
          <a:ln>
            <a:solidFill>
              <a:srgbClr val="1B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39" y="5623560"/>
            <a:ext cx="4663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9192F"/>
                </a:solidFill>
                <a:latin typeface="Aptos"/>
              </a:rPr>
              <a:t>OPTIMAL DAY-WISE ITINERARY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ECDDC"/>
                </a:solidFill>
                <a:latin typeface="Aptos"/>
              </a:rPr>
              <a:t>Fundamentals of Artificial Intelligence  •  Project Review – 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6400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BB8AB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201168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8FBFD"/>
                </a:solidFill>
                <a:latin typeface="Aptos"/>
              </a:rPr>
              <a:t>Expected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41832"/>
            <a:ext cx="914400" cy="45720"/>
          </a:xfrm>
          <a:prstGeom prst="rect">
            <a:avLst/>
          </a:prstGeom>
          <a:solidFill>
            <a:srgbClr val="1BB8AB"/>
          </a:solidFill>
          <a:ln>
            <a:solidFill>
              <a:srgbClr val="1B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042415"/>
            <a:ext cx="106984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BECDDC"/>
                </a:solidFill>
                <a:latin typeface="Aptos"/>
              </a:rPr>
              <a:t>What the user receives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3429000" cy="4480560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54480"/>
            <a:ext cx="64008" cy="4480560"/>
          </a:xfrm>
          <a:prstGeom prst="rect">
            <a:avLst/>
          </a:prstGeom>
          <a:solidFill>
            <a:srgbClr val="1BB8AB"/>
          </a:solidFill>
          <a:ln>
            <a:solidFill>
              <a:srgbClr val="1BB8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673352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BFD"/>
                </a:solidFill>
                <a:latin typeface="Aptos"/>
              </a:rPr>
              <a:t>Personalized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21408"/>
            <a:ext cx="301752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Day-wise itinerary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Recommended destinations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Activities based on interests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54480"/>
            <a:ext cx="3429000" cy="4480560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554480"/>
            <a:ext cx="64008" cy="4480560"/>
          </a:xfrm>
          <a:prstGeom prst="rect">
            <a:avLst/>
          </a:prstGeom>
          <a:solidFill>
            <a:srgbClr val="37C6E2"/>
          </a:solidFill>
          <a:ln>
            <a:solidFill>
              <a:srgbClr val="37C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81144" y="1673352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BFD"/>
                </a:solidFill>
                <a:latin typeface="Aptos"/>
              </a:rPr>
              <a:t>Travel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121408"/>
            <a:ext cx="301752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Route sequence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Estimated travel time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Estimated trip cost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554480"/>
            <a:ext cx="3429000" cy="4480560"/>
          </a:xfrm>
          <a:prstGeom prst="roundRect">
            <a:avLst>
              <a:gd name="adj" fmla="val 12000"/>
            </a:avLst>
          </a:prstGeom>
          <a:solidFill>
            <a:srgbClr val="16314E"/>
          </a:solidFill>
          <a:ln>
            <a:solidFill>
              <a:srgbClr val="1631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47304" y="1554480"/>
            <a:ext cx="64008" cy="4480560"/>
          </a:xfrm>
          <a:prstGeom prst="rect">
            <a:avLst/>
          </a:prstGeom>
          <a:solidFill>
            <a:srgbClr val="F6BE4A"/>
          </a:solidFill>
          <a:ln>
            <a:solidFill>
              <a:srgbClr val="F6B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7616" y="1673352"/>
            <a:ext cx="3063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8FBFD"/>
                </a:solidFill>
                <a:latin typeface="Aptos"/>
              </a:rPr>
              <a:t>AI Explanation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2121408"/>
            <a:ext cx="3017520" cy="3822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Why the plan fits constraints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Why a route was selected</a:t>
            </a:r>
          </a:p>
          <a:p>
            <a:pPr>
              <a:spcAft>
                <a:spcPts val="600"/>
              </a:spcAft>
              <a:defRPr sz="1300">
                <a:solidFill>
                  <a:srgbClr val="BECDDC"/>
                </a:solidFill>
                <a:latin typeface="Aptos"/>
              </a:defRPr>
            </a:pPr>
            <a:r>
              <a:t>• Alternative options when needed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10789920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50" b="0">
                <a:solidFill>
                  <a:srgbClr val="BECDDC"/>
                </a:solidFill>
                <a:latin typeface="Aptos"/>
              </a:rPr>
              <a:t>Fundamentals of Artificial Intelligence  •  Project Review –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